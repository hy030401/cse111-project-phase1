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403EF7A-4003-4D6F-AF9E-8177342DBC59}">
  <a:tblStyle styleId="{9403EF7A-4003-4D6F-AF9E-8177342DBC59}" styleName="Table_0">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4" Type="http://schemas.openxmlformats.org/officeDocument/2006/relationships/slide" Target="slides/slide8.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9c60f985e4_4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9c60f985e4_4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c60f985e4_4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9c60f985e4_4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9c60f985e4_4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9c60f985e4_4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9c60f985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9c60f985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9c60f985e4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9c60f985e4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aed2c70b2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aed2c70b2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aed2c70b24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aed2c70b24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dk1"/>
              </a:buClr>
              <a:buSzPts val="1800"/>
              <a:buChar char="●"/>
              <a:defRPr>
                <a:solidFill>
                  <a:schemeClr val="dk1"/>
                </a:solidFill>
              </a:defRPr>
            </a:lvl1pPr>
            <a:lvl2pPr indent="-317500" lvl="1" marL="914400">
              <a:spcBef>
                <a:spcPts val="0"/>
              </a:spcBef>
              <a:spcAft>
                <a:spcPts val="0"/>
              </a:spcAft>
              <a:buClr>
                <a:schemeClr val="dk1"/>
              </a:buClr>
              <a:buSzPts val="1400"/>
              <a:buChar char="○"/>
              <a:defRPr>
                <a:solidFill>
                  <a:schemeClr val="dk1"/>
                </a:solidFill>
              </a:defRPr>
            </a:lvl2pPr>
            <a:lvl3pPr indent="-317500" lvl="2" marL="1371600">
              <a:spcBef>
                <a:spcPts val="0"/>
              </a:spcBef>
              <a:spcAft>
                <a:spcPts val="0"/>
              </a:spcAft>
              <a:buClr>
                <a:schemeClr val="dk1"/>
              </a:buClr>
              <a:buSzPts val="1400"/>
              <a:buChar char="■"/>
              <a:defRPr>
                <a:solidFill>
                  <a:schemeClr val="dk1"/>
                </a:solidFill>
              </a:defRPr>
            </a:lvl3pPr>
            <a:lvl4pPr indent="-317500" lvl="3" marL="1828800">
              <a:spcBef>
                <a:spcPts val="0"/>
              </a:spcBef>
              <a:spcAft>
                <a:spcPts val="0"/>
              </a:spcAft>
              <a:buClr>
                <a:schemeClr val="dk1"/>
              </a:buClr>
              <a:buSzPts val="1400"/>
              <a:buChar char="●"/>
              <a:defRPr>
                <a:solidFill>
                  <a:schemeClr val="dk1"/>
                </a:solidFill>
              </a:defRPr>
            </a:lvl4pPr>
            <a:lvl5pPr indent="-317500" lvl="4" marL="2286000">
              <a:spcBef>
                <a:spcPts val="0"/>
              </a:spcBef>
              <a:spcAft>
                <a:spcPts val="0"/>
              </a:spcAft>
              <a:buClr>
                <a:schemeClr val="dk1"/>
              </a:buClr>
              <a:buSzPts val="1400"/>
              <a:buChar char="○"/>
              <a:defRPr>
                <a:solidFill>
                  <a:schemeClr val="dk1"/>
                </a:solidFill>
              </a:defRPr>
            </a:lvl5pPr>
            <a:lvl6pPr indent="-317500" lvl="5" marL="2743200">
              <a:spcBef>
                <a:spcPts val="0"/>
              </a:spcBef>
              <a:spcAft>
                <a:spcPts val="0"/>
              </a:spcAft>
              <a:buClr>
                <a:schemeClr val="dk1"/>
              </a:buClr>
              <a:buSzPts val="1400"/>
              <a:buChar char="■"/>
              <a:defRPr>
                <a:solidFill>
                  <a:schemeClr val="dk1"/>
                </a:solidFill>
              </a:defRPr>
            </a:lvl6pPr>
            <a:lvl7pPr indent="-317500" lvl="6" marL="3200400">
              <a:spcBef>
                <a:spcPts val="0"/>
              </a:spcBef>
              <a:spcAft>
                <a:spcPts val="0"/>
              </a:spcAft>
              <a:buClr>
                <a:schemeClr val="dk1"/>
              </a:buClr>
              <a:buSzPts val="1400"/>
              <a:buChar char="●"/>
              <a:defRPr>
                <a:solidFill>
                  <a:schemeClr val="dk1"/>
                </a:solidFill>
              </a:defRPr>
            </a:lvl7pPr>
            <a:lvl8pPr indent="-317500" lvl="7" marL="3657600">
              <a:spcBef>
                <a:spcPts val="0"/>
              </a:spcBef>
              <a:spcAft>
                <a:spcPts val="0"/>
              </a:spcAft>
              <a:buClr>
                <a:schemeClr val="dk1"/>
              </a:buClr>
              <a:buSzPts val="1400"/>
              <a:buChar char="○"/>
              <a:defRPr>
                <a:solidFill>
                  <a:schemeClr val="dk1"/>
                </a:solidFill>
              </a:defRPr>
            </a:lvl8pPr>
            <a:lvl9pPr indent="-317500" lvl="8" marL="4114800">
              <a:spcBef>
                <a:spcPts val="0"/>
              </a:spcBef>
              <a:spcAft>
                <a:spcPts val="0"/>
              </a:spcAft>
              <a:buClr>
                <a:schemeClr val="dk1"/>
              </a:buClr>
              <a:buSzPts val="1400"/>
              <a:buChar char="■"/>
              <a:defRPr>
                <a:solidFill>
                  <a:schemeClr val="dk1"/>
                </a:solidFill>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dark-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2"/>
              </a:buClr>
              <a:buSzPts val="1800"/>
              <a:buChar char="●"/>
              <a:defRPr sz="1800">
                <a:solidFill>
                  <a:schemeClr val="lt2"/>
                </a:solidFill>
              </a:defRPr>
            </a:lvl1pPr>
            <a:lvl2pPr indent="-317500" lvl="1" marL="914400">
              <a:lnSpc>
                <a:spcPct val="115000"/>
              </a:lnSpc>
              <a:spcBef>
                <a:spcPts val="0"/>
              </a:spcBef>
              <a:spcAft>
                <a:spcPts val="0"/>
              </a:spcAft>
              <a:buClr>
                <a:schemeClr val="lt2"/>
              </a:buClr>
              <a:buSzPts val="1400"/>
              <a:buChar char="○"/>
              <a:defRPr>
                <a:solidFill>
                  <a:schemeClr val="lt2"/>
                </a:solidFill>
              </a:defRPr>
            </a:lvl2pPr>
            <a:lvl3pPr indent="-317500" lvl="2" marL="1371600">
              <a:lnSpc>
                <a:spcPct val="115000"/>
              </a:lnSpc>
              <a:spcBef>
                <a:spcPts val="0"/>
              </a:spcBef>
              <a:spcAft>
                <a:spcPts val="0"/>
              </a:spcAft>
              <a:buClr>
                <a:schemeClr val="lt2"/>
              </a:buClr>
              <a:buSzPts val="1400"/>
              <a:buChar char="■"/>
              <a:defRPr>
                <a:solidFill>
                  <a:schemeClr val="lt2"/>
                </a:solidFill>
              </a:defRPr>
            </a:lvl3pPr>
            <a:lvl4pPr indent="-317500" lvl="3" marL="1828800">
              <a:lnSpc>
                <a:spcPct val="115000"/>
              </a:lnSpc>
              <a:spcBef>
                <a:spcPts val="0"/>
              </a:spcBef>
              <a:spcAft>
                <a:spcPts val="0"/>
              </a:spcAft>
              <a:buClr>
                <a:schemeClr val="lt2"/>
              </a:buClr>
              <a:buSzPts val="1400"/>
              <a:buChar char="●"/>
              <a:defRPr>
                <a:solidFill>
                  <a:schemeClr val="lt2"/>
                </a:solidFill>
              </a:defRPr>
            </a:lvl4pPr>
            <a:lvl5pPr indent="-317500" lvl="4" marL="2286000">
              <a:lnSpc>
                <a:spcPct val="115000"/>
              </a:lnSpc>
              <a:spcBef>
                <a:spcPts val="0"/>
              </a:spcBef>
              <a:spcAft>
                <a:spcPts val="0"/>
              </a:spcAft>
              <a:buClr>
                <a:schemeClr val="lt2"/>
              </a:buClr>
              <a:buSzPts val="1400"/>
              <a:buChar char="○"/>
              <a:defRPr>
                <a:solidFill>
                  <a:schemeClr val="lt2"/>
                </a:solidFill>
              </a:defRPr>
            </a:lvl5pPr>
            <a:lvl6pPr indent="-317500" lvl="5" marL="2743200">
              <a:lnSpc>
                <a:spcPct val="115000"/>
              </a:lnSpc>
              <a:spcBef>
                <a:spcPts val="0"/>
              </a:spcBef>
              <a:spcAft>
                <a:spcPts val="0"/>
              </a:spcAft>
              <a:buClr>
                <a:schemeClr val="lt2"/>
              </a:buClr>
              <a:buSzPts val="1400"/>
              <a:buChar char="■"/>
              <a:defRPr>
                <a:solidFill>
                  <a:schemeClr val="lt2"/>
                </a:solidFill>
              </a:defRPr>
            </a:lvl6pPr>
            <a:lvl7pPr indent="-317500" lvl="6" marL="3200400">
              <a:lnSpc>
                <a:spcPct val="115000"/>
              </a:lnSpc>
              <a:spcBef>
                <a:spcPts val="0"/>
              </a:spcBef>
              <a:spcAft>
                <a:spcPts val="0"/>
              </a:spcAft>
              <a:buClr>
                <a:schemeClr val="lt2"/>
              </a:buClr>
              <a:buSzPts val="1400"/>
              <a:buChar char="●"/>
              <a:defRPr>
                <a:solidFill>
                  <a:schemeClr val="lt2"/>
                </a:solidFill>
              </a:defRPr>
            </a:lvl7pPr>
            <a:lvl8pPr indent="-317500" lvl="7" marL="3657600">
              <a:lnSpc>
                <a:spcPct val="115000"/>
              </a:lnSpc>
              <a:spcBef>
                <a:spcPts val="0"/>
              </a:spcBef>
              <a:spcAft>
                <a:spcPts val="0"/>
              </a:spcAft>
              <a:buClr>
                <a:schemeClr val="lt2"/>
              </a:buClr>
              <a:buSzPts val="1400"/>
              <a:buChar char="○"/>
              <a:defRPr>
                <a:solidFill>
                  <a:schemeClr val="lt2"/>
                </a:solidFill>
              </a:defRPr>
            </a:lvl8pPr>
            <a:lvl9pPr indent="-317500" lvl="8" marL="4114800">
              <a:lnSpc>
                <a:spcPct val="115000"/>
              </a:lnSpc>
              <a:spcBef>
                <a:spcPts val="0"/>
              </a:spcBef>
              <a:spcAft>
                <a:spcPts val="0"/>
              </a:spcAft>
              <a:buClr>
                <a:schemeClr val="lt2"/>
              </a:buClr>
              <a:buSzPts val="1400"/>
              <a:buChar char="■"/>
              <a:defRPr>
                <a:solidFill>
                  <a:schemeClr val="lt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Online Retail Database</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Elvis Bui and Haozhen Yang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Overview</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This project models a simplified online retail system that allows customers to browse products, place orders, and process payments. It simulates the main data operations found in a small-scale e-commerce environment using data from the Kaggle UCI Online Retail dataset.</a:t>
            </a:r>
            <a:endParaRPr/>
          </a:p>
          <a:p>
            <a:pPr indent="0" lvl="0" marL="457200" rtl="0" algn="l">
              <a:spcBef>
                <a:spcPts val="1200"/>
              </a:spcBef>
              <a:spcAft>
                <a:spcPts val="0"/>
              </a:spcAft>
              <a:buNone/>
            </a:pPr>
            <a:r>
              <a:t/>
            </a:r>
            <a:endParaRPr/>
          </a:p>
          <a:p>
            <a:pPr indent="-342900" lvl="0" marL="457200" rtl="0" algn="l">
              <a:spcBef>
                <a:spcPts val="1200"/>
              </a:spcBef>
              <a:spcAft>
                <a:spcPts val="0"/>
              </a:spcAft>
              <a:buSzPts val="1800"/>
              <a:buChar char="●"/>
            </a:pPr>
            <a:r>
              <a:rPr lang="en"/>
              <a:t>The system captures transactions, line items, customers, and payments, ensuring a normalized relational structure for future querying and reporting.</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Actors and </a:t>
            </a:r>
            <a:r>
              <a:rPr lang="en" sz="2750"/>
              <a:t>Responsibility</a:t>
            </a:r>
            <a:endParaRPr sz="2750"/>
          </a:p>
        </p:txBody>
      </p:sp>
      <p:sp>
        <p:nvSpPr>
          <p:cNvPr id="67" name="Google Shape;67;p15"/>
          <p:cNvSpPr txBox="1"/>
          <p:nvPr>
            <p:ph idx="1" type="body"/>
          </p:nvPr>
        </p:nvSpPr>
        <p:spPr>
          <a:xfrm>
            <a:off x="247525"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graphicFrame>
        <p:nvGraphicFramePr>
          <p:cNvPr id="68" name="Google Shape;68;p15"/>
          <p:cNvGraphicFramePr/>
          <p:nvPr/>
        </p:nvGraphicFramePr>
        <p:xfrm>
          <a:off x="1536025" y="1540088"/>
          <a:ext cx="3000000" cy="3000000"/>
        </p:xfrm>
        <a:graphic>
          <a:graphicData uri="http://schemas.openxmlformats.org/drawingml/2006/table">
            <a:tbl>
              <a:tblPr>
                <a:noFill/>
                <a:tableStyleId>{9403EF7A-4003-4D6F-AF9E-8177342DBC59}</a:tableStyleId>
              </a:tblPr>
              <a:tblGrid>
                <a:gridCol w="2971800"/>
                <a:gridCol w="2971800"/>
              </a:tblGrid>
              <a:tr h="597050">
                <a:tc>
                  <a:txBody>
                    <a:bodyPr/>
                    <a:lstStyle/>
                    <a:p>
                      <a:pPr indent="0" lvl="0" marL="0" rtl="0" algn="l">
                        <a:spcBef>
                          <a:spcPts val="0"/>
                        </a:spcBef>
                        <a:spcAft>
                          <a:spcPts val="0"/>
                        </a:spcAft>
                        <a:buNone/>
                      </a:pPr>
                      <a:r>
                        <a:rPr b="1" lang="en" sz="2400">
                          <a:solidFill>
                            <a:schemeClr val="dk1"/>
                          </a:solidFill>
                        </a:rPr>
                        <a:t>Actor</a:t>
                      </a:r>
                      <a:endParaRPr b="1" sz="2400">
                        <a:solidFill>
                          <a:schemeClr val="dk1"/>
                        </a:solidFill>
                      </a:endParaRPr>
                    </a:p>
                  </a:txBody>
                  <a:tcPr marT="63500" marB="63500" marR="63500" marL="6350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 sz="2400">
                          <a:solidFill>
                            <a:schemeClr val="dk1"/>
                          </a:solidFill>
                        </a:rPr>
                        <a:t>Responsibility</a:t>
                      </a:r>
                      <a:endParaRPr b="1" sz="2400">
                        <a:solidFill>
                          <a:schemeClr val="dk1"/>
                        </a:solidFill>
                      </a:endParaRPr>
                    </a:p>
                  </a:txBody>
                  <a:tcPr marT="63500" marB="63500" marR="63500" marL="6350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748850">
                <a:tc>
                  <a:txBody>
                    <a:bodyPr/>
                    <a:lstStyle/>
                    <a:p>
                      <a:pPr indent="0" lvl="0" marL="0" rtl="0" algn="l">
                        <a:spcBef>
                          <a:spcPts val="0"/>
                        </a:spcBef>
                        <a:spcAft>
                          <a:spcPts val="0"/>
                        </a:spcAft>
                        <a:buNone/>
                      </a:pPr>
                      <a:r>
                        <a:rPr lang="en" sz="1800">
                          <a:solidFill>
                            <a:schemeClr val="dk1"/>
                          </a:solidFill>
                        </a:rPr>
                        <a:t>Customer</a:t>
                      </a:r>
                      <a:endParaRPr sz="1800">
                        <a:solidFill>
                          <a:schemeClr val="dk1"/>
                        </a:solidFill>
                      </a:endParaRPr>
                    </a:p>
                  </a:txBody>
                  <a:tcPr marT="63500" marB="63500" marR="63500" marL="6350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solidFill>
                            <a:schemeClr val="dk1"/>
                          </a:solidFill>
                        </a:rPr>
                        <a:t>Browse and search products, create and pay for orders, and request refunds.</a:t>
                      </a:r>
                      <a:endParaRPr sz="1300">
                        <a:solidFill>
                          <a:schemeClr val="dk1"/>
                        </a:solidFill>
                      </a:endParaRPr>
                    </a:p>
                  </a:txBody>
                  <a:tcPr marT="63500" marB="63500" marR="63500" marL="6350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95275">
                <a:tc>
                  <a:txBody>
                    <a:bodyPr/>
                    <a:lstStyle/>
                    <a:p>
                      <a:pPr indent="0" lvl="0" marL="0" rtl="0" algn="l">
                        <a:spcBef>
                          <a:spcPts val="0"/>
                        </a:spcBef>
                        <a:spcAft>
                          <a:spcPts val="0"/>
                        </a:spcAft>
                        <a:buNone/>
                      </a:pPr>
                      <a:r>
                        <a:rPr lang="en" sz="1800">
                          <a:solidFill>
                            <a:schemeClr val="dk1"/>
                          </a:solidFill>
                        </a:rPr>
                        <a:t>General Admin</a:t>
                      </a:r>
                      <a:endParaRPr sz="1800">
                        <a:solidFill>
                          <a:schemeClr val="dk1"/>
                        </a:solidFill>
                      </a:endParaRPr>
                    </a:p>
                  </a:txBody>
                  <a:tcPr marT="63500" marB="63500" marR="63500" marL="6350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solidFill>
                            <a:schemeClr val="dk1"/>
                          </a:solidFill>
                        </a:rPr>
                        <a:t>Manage product and category data, handle refunds, Fulfill orders and update shipment status, View and analyze sales reports, Process and confirm customer payments.</a:t>
                      </a:r>
                      <a:endParaRPr sz="1300">
                        <a:solidFill>
                          <a:schemeClr val="dk1"/>
                        </a:solidFill>
                      </a:endParaRPr>
                    </a:p>
                  </a:txBody>
                  <a:tcPr marT="63500" marB="63500" marR="63500" marL="6350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750"/>
              <a:t>Main Use Cases and UML Diagram</a:t>
            </a:r>
            <a:endParaRPr sz="2750"/>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200">
                <a:solidFill>
                  <a:schemeClr val="dk1"/>
                </a:solidFill>
              </a:rPr>
              <a:t>UC1:</a:t>
            </a:r>
            <a:r>
              <a:rPr lang="en" sz="2200">
                <a:solidFill>
                  <a:schemeClr val="dk1"/>
                </a:solidFill>
              </a:rPr>
              <a:t> Browse Products</a:t>
            </a:r>
            <a:endParaRPr sz="2200">
              <a:solidFill>
                <a:schemeClr val="dk1"/>
              </a:solidFill>
            </a:endParaRPr>
          </a:p>
          <a:p>
            <a:pPr indent="0" lvl="0" marL="0" rtl="0" algn="l">
              <a:spcBef>
                <a:spcPts val="1200"/>
              </a:spcBef>
              <a:spcAft>
                <a:spcPts val="0"/>
              </a:spcAft>
              <a:buNone/>
            </a:pPr>
            <a:r>
              <a:rPr b="1" lang="en" sz="2200">
                <a:solidFill>
                  <a:schemeClr val="dk1"/>
                </a:solidFill>
              </a:rPr>
              <a:t>UC2:</a:t>
            </a:r>
            <a:r>
              <a:rPr lang="en" sz="2200">
                <a:solidFill>
                  <a:schemeClr val="dk1"/>
                </a:solidFill>
              </a:rPr>
              <a:t> Place Order &amp; Pay</a:t>
            </a:r>
            <a:endParaRPr sz="2200">
              <a:solidFill>
                <a:schemeClr val="dk1"/>
              </a:solidFill>
            </a:endParaRPr>
          </a:p>
          <a:p>
            <a:pPr indent="0" lvl="0" marL="0" rtl="0" algn="l">
              <a:spcBef>
                <a:spcPts val="1200"/>
              </a:spcBef>
              <a:spcAft>
                <a:spcPts val="0"/>
              </a:spcAft>
              <a:buNone/>
            </a:pPr>
            <a:r>
              <a:rPr b="1" lang="en" sz="2200">
                <a:solidFill>
                  <a:schemeClr val="dk1"/>
                </a:solidFill>
              </a:rPr>
              <a:t>UC3:</a:t>
            </a:r>
            <a:r>
              <a:rPr lang="en" sz="2200">
                <a:solidFill>
                  <a:schemeClr val="dk1"/>
                </a:solidFill>
              </a:rPr>
              <a:t> Manage Catalog</a:t>
            </a:r>
            <a:endParaRPr sz="2200">
              <a:solidFill>
                <a:schemeClr val="dk1"/>
              </a:solidFill>
            </a:endParaRPr>
          </a:p>
          <a:p>
            <a:pPr indent="0" lvl="0" marL="0" rtl="0" algn="l">
              <a:spcBef>
                <a:spcPts val="1200"/>
              </a:spcBef>
              <a:spcAft>
                <a:spcPts val="0"/>
              </a:spcAft>
              <a:buNone/>
            </a:pPr>
            <a:r>
              <a:rPr b="1" lang="en" sz="2200">
                <a:solidFill>
                  <a:schemeClr val="dk1"/>
                </a:solidFill>
              </a:rPr>
              <a:t>UC4:</a:t>
            </a:r>
            <a:r>
              <a:rPr lang="en" sz="2200">
                <a:solidFill>
                  <a:schemeClr val="dk1"/>
                </a:solidFill>
              </a:rPr>
              <a:t> Fulfill Order</a:t>
            </a:r>
            <a:endParaRPr sz="2200">
              <a:solidFill>
                <a:schemeClr val="dk1"/>
              </a:solidFill>
            </a:endParaRPr>
          </a:p>
          <a:p>
            <a:pPr indent="0" lvl="0" marL="0" rtl="0" algn="l">
              <a:spcBef>
                <a:spcPts val="1200"/>
              </a:spcBef>
              <a:spcAft>
                <a:spcPts val="0"/>
              </a:spcAft>
              <a:buNone/>
            </a:pPr>
            <a:r>
              <a:rPr b="1" lang="en" sz="2200">
                <a:solidFill>
                  <a:schemeClr val="dk1"/>
                </a:solidFill>
              </a:rPr>
              <a:t>UC5:</a:t>
            </a:r>
            <a:r>
              <a:rPr lang="en" sz="2200">
                <a:solidFill>
                  <a:schemeClr val="dk1"/>
                </a:solidFill>
              </a:rPr>
              <a:t> Process Refund</a:t>
            </a:r>
            <a:endParaRPr sz="2200">
              <a:solidFill>
                <a:schemeClr val="dk1"/>
              </a:solidFill>
            </a:endParaRPr>
          </a:p>
          <a:p>
            <a:pPr indent="0" lvl="0" marL="0" rtl="0" algn="l">
              <a:spcBef>
                <a:spcPts val="1200"/>
              </a:spcBef>
              <a:spcAft>
                <a:spcPts val="1200"/>
              </a:spcAft>
              <a:buNone/>
            </a:pPr>
            <a:r>
              <a:rPr b="1" lang="en" sz="2200">
                <a:solidFill>
                  <a:schemeClr val="dk1"/>
                </a:solidFill>
              </a:rPr>
              <a:t>UC6:</a:t>
            </a:r>
            <a:r>
              <a:rPr lang="en" sz="2200">
                <a:solidFill>
                  <a:schemeClr val="dk1"/>
                </a:solidFill>
              </a:rPr>
              <a:t> View Sales Reports</a:t>
            </a:r>
            <a:endParaRPr sz="2900">
              <a:solidFill>
                <a:schemeClr val="dk1"/>
              </a:solidFill>
            </a:endParaRPr>
          </a:p>
        </p:txBody>
      </p:sp>
      <p:pic>
        <p:nvPicPr>
          <p:cNvPr id="75" name="Google Shape;75;p16"/>
          <p:cNvPicPr preferRelativeResize="0"/>
          <p:nvPr/>
        </p:nvPicPr>
        <p:blipFill>
          <a:blip r:embed="rId3">
            <a:alphaModFix/>
          </a:blip>
          <a:stretch>
            <a:fillRect/>
          </a:stretch>
        </p:blipFill>
        <p:spPr>
          <a:xfrm>
            <a:off x="6498675" y="1174750"/>
            <a:ext cx="2333625" cy="33718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7"/>
          <p:cNvSpPr txBox="1"/>
          <p:nvPr>
            <p:ph type="title"/>
          </p:nvPr>
        </p:nvSpPr>
        <p:spPr>
          <a:xfrm>
            <a:off x="311700" y="579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E-R Diagram</a:t>
            </a:r>
            <a:endParaRPr/>
          </a:p>
          <a:p>
            <a:pPr indent="0" lvl="0" marL="0" rtl="0" algn="l">
              <a:spcBef>
                <a:spcPts val="0"/>
              </a:spcBef>
              <a:spcAft>
                <a:spcPts val="0"/>
              </a:spcAft>
              <a:buNone/>
            </a:pPr>
            <a:r>
              <a:t/>
            </a:r>
            <a:endParaRPr/>
          </a:p>
        </p:txBody>
      </p:sp>
      <p:pic>
        <p:nvPicPr>
          <p:cNvPr id="81" name="Google Shape;81;p17" title="Drawing.png"/>
          <p:cNvPicPr preferRelativeResize="0"/>
          <p:nvPr/>
        </p:nvPicPr>
        <p:blipFill>
          <a:blip r:embed="rId3">
            <a:alphaModFix/>
          </a:blip>
          <a:stretch>
            <a:fillRect/>
          </a:stretch>
        </p:blipFill>
        <p:spPr>
          <a:xfrm>
            <a:off x="-36750" y="498875"/>
            <a:ext cx="9180749" cy="46446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E-R Table</a:t>
            </a:r>
            <a:endParaRPr/>
          </a:p>
        </p:txBody>
      </p:sp>
      <p:pic>
        <p:nvPicPr>
          <p:cNvPr id="87" name="Google Shape;87;p18" title="project1.png"/>
          <p:cNvPicPr preferRelativeResize="0"/>
          <p:nvPr/>
        </p:nvPicPr>
        <p:blipFill>
          <a:blip r:embed="rId3">
            <a:alphaModFix/>
          </a:blip>
          <a:stretch>
            <a:fillRect/>
          </a:stretch>
        </p:blipFill>
        <p:spPr>
          <a:xfrm>
            <a:off x="2231488" y="955100"/>
            <a:ext cx="4681023" cy="382097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Code Demo:</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First, we ask if the user is either a customer or an administrator, then navigate to the menu based on user selection</a:t>
            </a:r>
            <a:endParaRPr/>
          </a:p>
          <a:p>
            <a:pPr indent="-342900" lvl="0" marL="457200" rtl="0" algn="l">
              <a:spcBef>
                <a:spcPts val="0"/>
              </a:spcBef>
              <a:spcAft>
                <a:spcPts val="0"/>
              </a:spcAft>
              <a:buSzPts val="1800"/>
              <a:buChar char="●"/>
            </a:pPr>
            <a:r>
              <a:rPr lang="en"/>
              <a:t>If user is customer: </a:t>
            </a:r>
            <a:endParaRPr/>
          </a:p>
          <a:p>
            <a:pPr indent="-317500" lvl="1" marL="914400" rtl="0" algn="l">
              <a:spcBef>
                <a:spcPts val="0"/>
              </a:spcBef>
              <a:spcAft>
                <a:spcPts val="0"/>
              </a:spcAft>
              <a:buSzPts val="1400"/>
              <a:buChar char="○"/>
            </a:pPr>
            <a:r>
              <a:rPr lang="en"/>
              <a:t>“Browse Products” page will display “ID”, “SKU”, “Name”, and “Price”. </a:t>
            </a:r>
            <a:endParaRPr/>
          </a:p>
          <a:p>
            <a:pPr indent="-317500" lvl="1" marL="914400" rtl="0" algn="l">
              <a:spcBef>
                <a:spcPts val="0"/>
              </a:spcBef>
              <a:spcAft>
                <a:spcPts val="0"/>
              </a:spcAft>
              <a:buSzPts val="1400"/>
              <a:buChar char="○"/>
            </a:pPr>
            <a:r>
              <a:rPr lang="en"/>
              <a:t>“Place order and Pay” page will allow the customer to select the Product ID, quantity, </a:t>
            </a:r>
            <a:r>
              <a:rPr lang="en"/>
              <a:t>and payment method. An invoice will be generated from there.</a:t>
            </a:r>
            <a:endParaRPr/>
          </a:p>
          <a:p>
            <a:pPr indent="-317500" lvl="1" marL="914400" rtl="0" algn="l">
              <a:spcBef>
                <a:spcPts val="0"/>
              </a:spcBef>
              <a:spcAft>
                <a:spcPts val="0"/>
              </a:spcAft>
              <a:buSzPts val="1400"/>
              <a:buChar char="○"/>
            </a:pPr>
            <a:r>
              <a:rPr lang="en"/>
              <a:t>“Process Refund” page will allow the user to select their invoice based on invoice ID and can enter a refund amount that will be processed admin side.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Code Demo (cont.)	</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the user is administrator:</a:t>
            </a:r>
            <a:endParaRPr/>
          </a:p>
          <a:p>
            <a:pPr indent="-317500" lvl="1" marL="914400" rtl="0" algn="l">
              <a:spcBef>
                <a:spcPts val="0"/>
              </a:spcBef>
              <a:spcAft>
                <a:spcPts val="0"/>
              </a:spcAft>
              <a:buSzPts val="1400"/>
              <a:buChar char="○"/>
            </a:pPr>
            <a:r>
              <a:rPr lang="en"/>
              <a:t>Page has full view of all invoices with details of all invoice numbers, customer names, and whether or not a refund was issued. </a:t>
            </a:r>
            <a:endParaRPr/>
          </a:p>
          <a:p>
            <a:pPr indent="-317500" lvl="1" marL="914400" rtl="0" algn="l">
              <a:spcBef>
                <a:spcPts val="0"/>
              </a:spcBef>
              <a:spcAft>
                <a:spcPts val="0"/>
              </a:spcAft>
              <a:buSzPts val="1400"/>
              <a:buChar char="○"/>
            </a:pPr>
            <a:r>
              <a:rPr lang="en"/>
              <a:t>An invoice can be selected to view the specific details of the invoice (e.g. SKU, Product Name,  refund request, etc.). </a:t>
            </a:r>
            <a:endParaRPr/>
          </a:p>
          <a:p>
            <a:pPr indent="-317500" lvl="1" marL="914400" rtl="0" algn="l">
              <a:spcBef>
                <a:spcPts val="0"/>
              </a:spcBef>
              <a:spcAft>
                <a:spcPts val="0"/>
              </a:spcAft>
              <a:buSzPts val="1400"/>
              <a:buChar char="○"/>
            </a:pPr>
            <a:r>
              <a:rPr lang="en"/>
              <a:t>View sales rankings and total net profit will show sales rankings and net profit for all countries. The net profit can change depending on if the user requests refunds or not.</a:t>
            </a:r>
            <a:endParaRPr/>
          </a:p>
          <a:p>
            <a:pPr indent="-317500" lvl="1" marL="914400" rtl="0" algn="l">
              <a:spcBef>
                <a:spcPts val="0"/>
              </a:spcBef>
              <a:spcAft>
                <a:spcPts val="0"/>
              </a:spcAft>
              <a:buSzPts val="1400"/>
              <a:buChar char="○"/>
            </a:pPr>
            <a:r>
              <a:rPr lang="en"/>
              <a:t>View Best selling products will output product rankings with the SKU, Name of the product, # of units, and # of sales. This ranking can change when the user places an order.</a:t>
            </a:r>
            <a:endParaRPr/>
          </a:p>
          <a:p>
            <a:pPr indent="-317500" lvl="1" marL="914400" rtl="0" algn="l">
              <a:spcBef>
                <a:spcPts val="0"/>
              </a:spcBef>
              <a:spcAft>
                <a:spcPts val="0"/>
              </a:spcAft>
              <a:buSzPts val="1400"/>
              <a:buChar char="○"/>
            </a:pPr>
            <a:r>
              <a:rPr lang="en"/>
              <a:t>Admin page also has a view for refund processing based on user request.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